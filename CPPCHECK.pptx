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</p:sldIdLst>
  <p:sldSz cx="18288000" cy="10287000"/>
  <p:notesSz cx="6858000" cy="9144000"/>
  <p:embeddedFontLst>
    <p:embeddedFont>
      <p:font typeface="Open Sauce Bold" charset="1" panose="00000800000000000000"/>
      <p:regular r:id="rId39"/>
    </p:embeddedFont>
    <p:embeddedFont>
      <p:font typeface="Open Sauce Light" charset="1" panose="00000400000000000000"/>
      <p:regular r:id="rId40"/>
    </p:embeddedFont>
    <p:embeddedFont>
      <p:font typeface="Public Sans" charset="1" panose="00000000000000000000"/>
      <p:regular r:id="rId41"/>
    </p:embeddedFont>
    <p:embeddedFont>
      <p:font typeface="Public Sans Bold" charset="1" panose="00000000000000000000"/>
      <p:regular r:id="rId42"/>
    </p:embeddedFont>
    <p:embeddedFont>
      <p:font typeface="Open Sauce" charset="1" panose="00000500000000000000"/>
      <p:regular r:id="rId4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41" Target="fonts/font41.fntdata" Type="http://schemas.openxmlformats.org/officeDocument/2006/relationships/font"/><Relationship Id="rId42" Target="fonts/font42.fntdata" Type="http://schemas.openxmlformats.org/officeDocument/2006/relationships/font"/><Relationship Id="rId43" Target="fonts/font43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pn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15.png" Type="http://schemas.openxmlformats.org/officeDocument/2006/relationships/image"/><Relationship Id="rId4" Target="../media/image21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22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4.png" Type="http://schemas.openxmlformats.org/officeDocument/2006/relationships/image"/><Relationship Id="rId4" Target="../media/image25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680048" y="5143500"/>
            <a:ext cx="4927904" cy="4114800"/>
          </a:xfrm>
          <a:custGeom>
            <a:avLst/>
            <a:gdLst/>
            <a:ahLst/>
            <a:cxnLst/>
            <a:rect r="r" b="b" t="t" l="l"/>
            <a:pathLst>
              <a:path h="4114800" w="4927904">
                <a:moveTo>
                  <a:pt x="0" y="0"/>
                </a:moveTo>
                <a:lnTo>
                  <a:pt x="4927904" y="0"/>
                </a:lnTo>
                <a:lnTo>
                  <a:pt x="492790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428750" y="1090869"/>
            <a:ext cx="15430500" cy="171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000"/>
              </a:lnSpc>
              <a:spcBef>
                <a:spcPct val="0"/>
              </a:spcBef>
            </a:pPr>
            <a:r>
              <a:rPr lang="en-US" b="true" sz="100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CPPCHECK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208613" y="3279338"/>
            <a:ext cx="11870774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Nhóm 13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257971" y="5057775"/>
            <a:ext cx="4422077" cy="615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Trần Anh Đức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099768" y="8907463"/>
            <a:ext cx="4422077" cy="615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Mẫn Thị Bích Phương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797189" y="4792663"/>
            <a:ext cx="4422077" cy="615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Nguyễn Minh Hiển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081626" y="8377238"/>
            <a:ext cx="4422077" cy="615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Trần Thanh Thảo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459279" y="2080681"/>
            <a:ext cx="4753641" cy="767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8"/>
              </a:lnSpc>
              <a:spcBef>
                <a:spcPct val="0"/>
              </a:spcBef>
            </a:pPr>
            <a:r>
              <a:rPr lang="en-US" sz="4498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I. Giới thiệu chung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459279" y="3398846"/>
            <a:ext cx="5747168" cy="767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8"/>
              </a:lnSpc>
              <a:spcBef>
                <a:spcPct val="0"/>
              </a:spcBef>
            </a:pPr>
            <a:r>
              <a:rPr lang="en-US" sz="4498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II.Kiến trúc hoạt động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459279" y="4717011"/>
            <a:ext cx="9519077" cy="767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8"/>
              </a:lnSpc>
              <a:spcBef>
                <a:spcPct val="0"/>
              </a:spcBef>
            </a:pPr>
            <a:r>
              <a:rPr lang="en-US" sz="4498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III. Cách thức Cppcheck kiểm tra lỗi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459279" y="6035176"/>
            <a:ext cx="7513946" cy="767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8"/>
              </a:lnSpc>
              <a:spcBef>
                <a:spcPct val="0"/>
              </a:spcBef>
            </a:pPr>
            <a:r>
              <a:rPr lang="en-US" sz="4498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IV. Đánh giá tổng quan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459279" y="7353341"/>
            <a:ext cx="3189715" cy="767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8"/>
              </a:lnSpc>
              <a:spcBef>
                <a:spcPct val="0"/>
              </a:spcBef>
            </a:pPr>
            <a:r>
              <a:rPr lang="en-US" sz="4498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V. Kết luận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70008" y="3294071"/>
            <a:ext cx="6394358" cy="3479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sz="9999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Table of</a:t>
            </a:r>
          </a:p>
          <a:p>
            <a:pPr algn="ctr">
              <a:lnSpc>
                <a:spcPts val="14000"/>
              </a:lnSpc>
              <a:spcBef>
                <a:spcPct val="0"/>
              </a:spcBef>
            </a:pPr>
            <a:r>
              <a:rPr lang="en-US" b="true" sz="100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Content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185133" y="4425315"/>
            <a:ext cx="9917735" cy="1387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200"/>
              </a:lnSpc>
              <a:spcBef>
                <a:spcPct val="0"/>
              </a:spcBef>
            </a:pPr>
            <a:r>
              <a:rPr lang="en-US" b="true" sz="8000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Giới thiệu chung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745733" y="3634183"/>
            <a:ext cx="1139873" cy="1139873"/>
          </a:xfrm>
          <a:custGeom>
            <a:avLst/>
            <a:gdLst/>
            <a:ahLst/>
            <a:cxnLst/>
            <a:rect r="r" b="b" t="t" l="l"/>
            <a:pathLst>
              <a:path h="1139873" w="1139873">
                <a:moveTo>
                  <a:pt x="0" y="0"/>
                </a:moveTo>
                <a:lnTo>
                  <a:pt x="1139873" y="0"/>
                </a:lnTo>
                <a:lnTo>
                  <a:pt x="1139873" y="1139873"/>
                </a:lnTo>
                <a:lnTo>
                  <a:pt x="0" y="11398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399564" y="3634183"/>
            <a:ext cx="1139873" cy="1139873"/>
          </a:xfrm>
          <a:custGeom>
            <a:avLst/>
            <a:gdLst/>
            <a:ahLst/>
            <a:cxnLst/>
            <a:rect r="r" b="b" t="t" l="l"/>
            <a:pathLst>
              <a:path h="1139873" w="1139873">
                <a:moveTo>
                  <a:pt x="0" y="0"/>
                </a:moveTo>
                <a:lnTo>
                  <a:pt x="1139873" y="0"/>
                </a:lnTo>
                <a:lnTo>
                  <a:pt x="1139873" y="1139873"/>
                </a:lnTo>
                <a:lnTo>
                  <a:pt x="0" y="11398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626632" y="3634183"/>
            <a:ext cx="1031907" cy="1188400"/>
          </a:xfrm>
          <a:custGeom>
            <a:avLst/>
            <a:gdLst/>
            <a:ahLst/>
            <a:cxnLst/>
            <a:rect r="r" b="b" t="t" l="l"/>
            <a:pathLst>
              <a:path h="1188400" w="1031907">
                <a:moveTo>
                  <a:pt x="0" y="0"/>
                </a:moveTo>
                <a:lnTo>
                  <a:pt x="1031907" y="0"/>
                </a:lnTo>
                <a:lnTo>
                  <a:pt x="1031907" y="1188400"/>
                </a:lnTo>
                <a:lnTo>
                  <a:pt x="0" y="11884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999625" y="1600200"/>
            <a:ext cx="12288749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b="true" sz="9000">
                <a:solidFill>
                  <a:srgbClr val="2529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CPPCHECK LÀ GÌ?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91786" y="5067300"/>
            <a:ext cx="5247767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3000">
                <a:solidFill>
                  <a:srgbClr val="252D3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Công cụ phân tích mã nguồn cho ngôn ngữ C/C++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90652" y="6279515"/>
            <a:ext cx="5247767" cy="197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252D37"/>
                </a:solidFill>
                <a:latin typeface="Public Sans"/>
                <a:ea typeface="Public Sans"/>
                <a:cs typeface="Public Sans"/>
                <a:sym typeface="Public Sans"/>
              </a:rPr>
              <a:t>Cung cấp các phân tích mã độc đáo nhằm phát hiện lỗi, hành vi không xác định, cấu trúc mã nguy hiểm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520347" y="5067300"/>
            <a:ext cx="5247767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3000">
                <a:solidFill>
                  <a:srgbClr val="252D3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Hoạt động dựa trên phân tích tĩnh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528969" y="6315075"/>
            <a:ext cx="5247767" cy="986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252D37"/>
                </a:solidFill>
                <a:latin typeface="Public Sans"/>
                <a:ea typeface="Public Sans"/>
                <a:cs typeface="Public Sans"/>
                <a:sym typeface="Public Sans"/>
              </a:rPr>
              <a:t>Phân tích mã nguồn mà không cần chạy chương trình.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968799" y="5067300"/>
            <a:ext cx="4001403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3000">
                <a:solidFill>
                  <a:srgbClr val="252D3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Hỗ trợ mã nguồn và đa nền tảng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367287" y="6279515"/>
            <a:ext cx="5247767" cy="986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252D37"/>
                </a:solidFill>
                <a:latin typeface="Public Sans"/>
                <a:ea typeface="Public Sans"/>
                <a:cs typeface="Public Sans"/>
                <a:sym typeface="Public Sans"/>
              </a:rPr>
              <a:t>Được sử dụng trong các môi trường như POSIX, Windows, ...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185133" y="4425315"/>
            <a:ext cx="9917735" cy="1387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200"/>
              </a:lnSpc>
              <a:spcBef>
                <a:spcPct val="0"/>
              </a:spcBef>
            </a:pPr>
            <a:r>
              <a:rPr lang="en-US" b="true" sz="8000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Kiến trúc hoạt động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13033" y="1442199"/>
            <a:ext cx="16395086" cy="1644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404"/>
              </a:lnSpc>
              <a:spcBef>
                <a:spcPct val="0"/>
              </a:spcBef>
            </a:pPr>
            <a:r>
              <a:rPr lang="en-US" sz="9574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Tiền xử lý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13033" y="4111755"/>
            <a:ext cx="13851032" cy="684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1301" indent="-430650" lvl="1">
              <a:lnSpc>
                <a:spcPts val="5585"/>
              </a:lnSpc>
              <a:buFont typeface="Arial"/>
              <a:buChar char="•"/>
            </a:pPr>
            <a:r>
              <a:rPr lang="en-US" sz="398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Xử lý các tệp mã nguồn (source files)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13033" y="5824632"/>
            <a:ext cx="13851032" cy="684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1301" indent="-430650" lvl="1">
              <a:lnSpc>
                <a:spcPts val="5585"/>
              </a:lnSpc>
              <a:buFont typeface="Arial"/>
              <a:buChar char="•"/>
            </a:pPr>
            <a:r>
              <a:rPr lang="en-US" sz="398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Loại bỏ các phần không cần thiết (marco, include, ...)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13033" y="7537509"/>
            <a:ext cx="13851032" cy="684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1301" indent="-430650" lvl="1">
              <a:lnSpc>
                <a:spcPts val="5585"/>
              </a:lnSpc>
              <a:buFont typeface="Arial"/>
              <a:buChar char="•"/>
            </a:pPr>
            <a:r>
              <a:rPr lang="en-US" sz="398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Đơn giản hoá mã nguồn → dễ dàng phân tích về sau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784075" y="7586996"/>
            <a:ext cx="2850738" cy="285074"/>
          </a:xfrm>
          <a:custGeom>
            <a:avLst/>
            <a:gdLst/>
            <a:ahLst/>
            <a:cxnLst/>
            <a:rect r="r" b="b" t="t" l="l"/>
            <a:pathLst>
              <a:path h="285074" w="2850738">
                <a:moveTo>
                  <a:pt x="0" y="0"/>
                </a:moveTo>
                <a:lnTo>
                  <a:pt x="2850738" y="0"/>
                </a:lnTo>
                <a:lnTo>
                  <a:pt x="2850738" y="285074"/>
                </a:lnTo>
                <a:lnTo>
                  <a:pt x="0" y="2850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13033" y="838200"/>
            <a:ext cx="16395086" cy="1644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404"/>
              </a:lnSpc>
              <a:spcBef>
                <a:spcPct val="0"/>
              </a:spcBef>
            </a:pPr>
            <a:r>
              <a:rPr lang="en-US" sz="9574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Danh sách token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13033" y="2985234"/>
            <a:ext cx="13851032" cy="684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1301" indent="-430650" lvl="1">
              <a:lnSpc>
                <a:spcPts val="5585"/>
              </a:lnSpc>
              <a:buFont typeface="Arial"/>
              <a:buChar char="•"/>
            </a:pPr>
            <a:r>
              <a:rPr lang="en-US" sz="398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Chuyển đổi code thành danh sách các token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13033" y="4174236"/>
            <a:ext cx="15217239" cy="684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1301" indent="-430650" lvl="1">
              <a:lnSpc>
                <a:spcPts val="5585"/>
              </a:lnSpc>
              <a:buFont typeface="Arial"/>
              <a:buChar char="•"/>
            </a:pPr>
            <a:r>
              <a:rPr lang="en-US" sz="398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Các token bao gồm: từ khoá, tên biến, toán tử, ...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154485" y="7351572"/>
            <a:ext cx="3496620" cy="679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85"/>
              </a:lnSpc>
            </a:pPr>
            <a:r>
              <a:rPr lang="en-US" sz="398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abc = ab + c ;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430836" y="5067300"/>
            <a:ext cx="1051829" cy="679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85"/>
              </a:lnSpc>
            </a:pPr>
            <a:r>
              <a:rPr lang="en-US" sz="398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abc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430836" y="5912229"/>
            <a:ext cx="1051829" cy="679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85"/>
              </a:lnSpc>
            </a:pPr>
            <a:r>
              <a:rPr lang="en-US" sz="398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=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430836" y="6753874"/>
            <a:ext cx="1051829" cy="679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85"/>
              </a:lnSpc>
            </a:pPr>
            <a:r>
              <a:rPr lang="en-US" sz="398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ab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430836" y="7543332"/>
            <a:ext cx="1051829" cy="679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85"/>
              </a:lnSpc>
            </a:pPr>
            <a:r>
              <a:rPr lang="en-US" sz="398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+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430836" y="8384977"/>
            <a:ext cx="1051829" cy="679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85"/>
              </a:lnSpc>
            </a:pPr>
            <a:r>
              <a:rPr lang="en-US" sz="398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c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430836" y="9274248"/>
            <a:ext cx="1051829" cy="679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85"/>
              </a:lnSpc>
            </a:pPr>
            <a:r>
              <a:rPr lang="en-US" sz="398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;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45445"/>
            <a:ext cx="15430500" cy="1236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080"/>
              </a:lnSpc>
              <a:spcBef>
                <a:spcPct val="0"/>
              </a:spcBef>
            </a:pPr>
            <a:r>
              <a:rPr lang="en-US" sz="72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Cây cú pháp (Syntax tree)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0" y="3129540"/>
            <a:ext cx="8115300" cy="1429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5845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Dựa trên danh sách token → biểu diễn cú pháp của mã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28750" y="5519997"/>
            <a:ext cx="7000875" cy="622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40"/>
              </a:lnSpc>
              <a:spcBef>
                <a:spcPct val="0"/>
              </a:spcBef>
            </a:pPr>
            <a:r>
              <a:rPr lang="en-US" b="true" sz="3600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AST (Abstract Syntax Tree)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144000" y="5159000"/>
            <a:ext cx="7000875" cy="1429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5845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Mỗi câu lệnh có một cây cú pháp tương ứng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144000" y="7186059"/>
            <a:ext cx="7000875" cy="1429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5845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Token trở thành node trong cây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06812" y="1680087"/>
            <a:ext cx="16474375" cy="7578213"/>
          </a:xfrm>
          <a:custGeom>
            <a:avLst/>
            <a:gdLst/>
            <a:ahLst/>
            <a:cxnLst/>
            <a:rect r="r" b="b" t="t" l="l"/>
            <a:pathLst>
              <a:path h="7578213" w="16474375">
                <a:moveTo>
                  <a:pt x="0" y="0"/>
                </a:moveTo>
                <a:lnTo>
                  <a:pt x="16474376" y="0"/>
                </a:lnTo>
                <a:lnTo>
                  <a:pt x="16474376" y="7578213"/>
                </a:lnTo>
                <a:lnTo>
                  <a:pt x="0" y="75782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318604" y="7877715"/>
            <a:ext cx="579304" cy="649991"/>
          </a:xfrm>
          <a:custGeom>
            <a:avLst/>
            <a:gdLst/>
            <a:ahLst/>
            <a:cxnLst/>
            <a:rect r="r" b="b" t="t" l="l"/>
            <a:pathLst>
              <a:path h="649991" w="579304">
                <a:moveTo>
                  <a:pt x="0" y="0"/>
                </a:moveTo>
                <a:lnTo>
                  <a:pt x="579304" y="0"/>
                </a:lnTo>
                <a:lnTo>
                  <a:pt x="579304" y="649991"/>
                </a:lnTo>
                <a:lnTo>
                  <a:pt x="0" y="6499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13033" y="828675"/>
            <a:ext cx="16395086" cy="1652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404"/>
              </a:lnSpc>
              <a:spcBef>
                <a:spcPct val="0"/>
              </a:spcBef>
            </a:pPr>
            <a:r>
              <a:rPr lang="en-US" sz="9574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Cơ sở dữ liệu ký hiệu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22558" y="3215394"/>
            <a:ext cx="13851032" cy="3041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1300" indent="-430650" lvl="1">
              <a:lnSpc>
                <a:spcPts val="5585"/>
              </a:lnSpc>
              <a:buFont typeface="Arial"/>
              <a:buChar char="•"/>
            </a:pPr>
            <a:r>
              <a:rPr lang="en-US" sz="398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Lưu trữ thông tin các thành phần quan trọng:</a:t>
            </a:r>
          </a:p>
          <a:p>
            <a:pPr algn="l" marL="1722600" indent="-574200" lvl="2">
              <a:lnSpc>
                <a:spcPts val="6343"/>
              </a:lnSpc>
              <a:buFont typeface="Arial"/>
              <a:buChar char="⚬"/>
            </a:pPr>
            <a:r>
              <a:rPr lang="en-US" sz="398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types</a:t>
            </a:r>
          </a:p>
          <a:p>
            <a:pPr algn="l" marL="1722600" indent="-574200" lvl="2">
              <a:lnSpc>
                <a:spcPts val="6343"/>
              </a:lnSpc>
              <a:buFont typeface="Arial"/>
              <a:buChar char="⚬"/>
            </a:pPr>
            <a:r>
              <a:rPr lang="en-US" sz="398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functions</a:t>
            </a:r>
          </a:p>
          <a:p>
            <a:pPr algn="l" marL="1722600" indent="-574200" lvl="2">
              <a:lnSpc>
                <a:spcPts val="6343"/>
              </a:lnSpc>
              <a:buFont typeface="Arial"/>
              <a:buChar char="⚬"/>
            </a:pPr>
            <a:r>
              <a:rPr lang="en-US" sz="398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variables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316404" y="7838460"/>
            <a:ext cx="13851032" cy="689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85"/>
              </a:lnSpc>
            </a:pPr>
            <a:r>
              <a:rPr lang="en-US" sz="398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Thực hiện các kiểm tra hoặc phân tích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28750" y="1285875"/>
            <a:ext cx="15430500" cy="1236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080"/>
              </a:lnSpc>
              <a:spcBef>
                <a:spcPct val="0"/>
              </a:spcBef>
            </a:pPr>
            <a:r>
              <a:rPr lang="en-US" sz="72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Phân tích luồng giá trị (Value Flow)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28750" y="5505848"/>
            <a:ext cx="3837027" cy="160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Theo dõi giá trị của biến từ các lệnh phía trước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28750" y="4398017"/>
            <a:ext cx="7000875" cy="622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40"/>
              </a:lnSpc>
              <a:spcBef>
                <a:spcPct val="0"/>
              </a:spcBef>
            </a:pPr>
            <a:r>
              <a:rPr lang="en-US" b="true" sz="3600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Ngược chiều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862307" y="5505848"/>
            <a:ext cx="3500438" cy="160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Theo dõi giá trị của biến trong các lệnh tiếp theo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862307" y="4398017"/>
            <a:ext cx="7000875" cy="622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40"/>
              </a:lnSpc>
              <a:spcBef>
                <a:spcPct val="0"/>
              </a:spcBef>
            </a:pPr>
            <a:r>
              <a:rPr lang="en-US" b="true" sz="3600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Xuôi chiều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527472" y="5505848"/>
            <a:ext cx="4331778" cy="160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Theo dõi giá trị của biến khi biến được truyền vào trong các hàm gọi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527472" y="4398017"/>
            <a:ext cx="7000875" cy="622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40"/>
              </a:lnSpc>
              <a:spcBef>
                <a:spcPct val="0"/>
              </a:spcBef>
            </a:pPr>
            <a:r>
              <a:rPr lang="en-US" b="true" sz="3600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Vào trong các hàm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50507" y="1279845"/>
            <a:ext cx="7012309" cy="6940388"/>
          </a:xfrm>
          <a:custGeom>
            <a:avLst/>
            <a:gdLst/>
            <a:ahLst/>
            <a:cxnLst/>
            <a:rect r="r" b="b" t="t" l="l"/>
            <a:pathLst>
              <a:path h="6940388" w="7012309">
                <a:moveTo>
                  <a:pt x="0" y="0"/>
                </a:moveTo>
                <a:lnTo>
                  <a:pt x="7012309" y="0"/>
                </a:lnTo>
                <a:lnTo>
                  <a:pt x="7012309" y="6940388"/>
                </a:lnTo>
                <a:lnTo>
                  <a:pt x="0" y="69403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506150" y="1194120"/>
            <a:ext cx="7959617" cy="6249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Khi phân tích hàm f, giá trị các token sẽ là:</a:t>
            </a:r>
          </a:p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</a:p>
          <a:p>
            <a:pPr algn="l" marL="647700" indent="-323850" lvl="1">
              <a:lnSpc>
                <a:spcPts val="5130"/>
              </a:lnSpc>
              <a:buFont typeface="Arial"/>
              <a:buChar char="•"/>
            </a:pPr>
            <a:r>
              <a:rPr lang="en-US" sz="3000" u="none">
                <a:solidFill>
                  <a:srgbClr val="6E6E6E"/>
                </a:solidFill>
                <a:latin typeface="Public Sans"/>
                <a:ea typeface="Public Sans"/>
                <a:cs typeface="Public Sans"/>
                <a:sym typeface="Public Sans"/>
              </a:rPr>
              <a:t>1: {1}</a:t>
            </a:r>
          </a:p>
          <a:p>
            <a:pPr algn="l" marL="647700" indent="-323850" lvl="1">
              <a:lnSpc>
                <a:spcPts val="5130"/>
              </a:lnSpc>
              <a:buFont typeface="Arial"/>
              <a:buChar char="•"/>
            </a:pPr>
            <a:r>
              <a:rPr lang="en-US" sz="3000" u="none">
                <a:solidFill>
                  <a:srgbClr val="6E6E6E"/>
                </a:solidFill>
                <a:latin typeface="Public Sans"/>
                <a:ea typeface="Public Sans"/>
                <a:cs typeface="Public Sans"/>
                <a:sym typeface="Public Sans"/>
              </a:rPr>
              <a:t>+: {5,17} </a:t>
            </a:r>
            <a:r>
              <a:rPr lang="en-US" sz="3000" u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(kết quả từ phép cộng trong các lần gọi hàm).</a:t>
            </a:r>
          </a:p>
          <a:p>
            <a:pPr algn="l" marL="647700" indent="-323850" lvl="1">
              <a:lnSpc>
                <a:spcPts val="5130"/>
              </a:lnSpc>
              <a:buFont typeface="Arial"/>
              <a:buChar char="•"/>
            </a:pPr>
            <a:r>
              <a:rPr lang="en-US" sz="3000" u="none">
                <a:solidFill>
                  <a:srgbClr val="6E6E6E"/>
                </a:solidFill>
                <a:latin typeface="Public Sans"/>
                <a:ea typeface="Public Sans"/>
                <a:cs typeface="Public Sans"/>
                <a:sym typeface="Public Sans"/>
              </a:rPr>
              <a:t>x: {2,4}</a:t>
            </a:r>
            <a:r>
              <a:rPr lang="en-US" sz="3000" u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 (giá trị của x trong các lần gọi hàm).</a:t>
            </a:r>
          </a:p>
          <a:p>
            <a:pPr algn="l" marL="647700" indent="-323850" lvl="1">
              <a:lnSpc>
                <a:spcPts val="5130"/>
              </a:lnSpc>
              <a:buFont typeface="Arial"/>
              <a:buChar char="•"/>
            </a:pPr>
            <a:r>
              <a:rPr lang="en-US" sz="3000" u="none">
                <a:solidFill>
                  <a:srgbClr val="6E6E6E"/>
                </a:solidFill>
                <a:latin typeface="Public Sans"/>
                <a:ea typeface="Public Sans"/>
                <a:cs typeface="Public Sans"/>
                <a:sym typeface="Public Sans"/>
              </a:rPr>
              <a:t>*: {4,16}</a:t>
            </a:r>
            <a:r>
              <a:rPr lang="en-US" sz="3000" u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 (kết quả của phép nhân).</a:t>
            </a:r>
          </a:p>
          <a:p>
            <a:pPr algn="l" marL="647700" indent="-323850" lvl="1">
              <a:lnSpc>
                <a:spcPts val="5130"/>
              </a:lnSpc>
              <a:buFont typeface="Arial"/>
              <a:buChar char="•"/>
            </a:pPr>
            <a:r>
              <a:rPr lang="en-US" sz="3000" u="none">
                <a:solidFill>
                  <a:srgbClr val="6E6E6E"/>
                </a:solidFill>
                <a:latin typeface="Public Sans"/>
                <a:ea typeface="Public Sans"/>
                <a:cs typeface="Public Sans"/>
                <a:sym typeface="Public Sans"/>
              </a:rPr>
              <a:t>x: {2,4}</a:t>
            </a:r>
            <a:r>
              <a:rPr lang="en-US" sz="3000" u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 (tương tự trên).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4276305" y="8596576"/>
            <a:ext cx="670832" cy="752687"/>
          </a:xfrm>
          <a:custGeom>
            <a:avLst/>
            <a:gdLst/>
            <a:ahLst/>
            <a:cxnLst/>
            <a:rect r="r" b="b" t="t" l="l"/>
            <a:pathLst>
              <a:path h="752687" w="670832">
                <a:moveTo>
                  <a:pt x="0" y="0"/>
                </a:moveTo>
                <a:lnTo>
                  <a:pt x="670832" y="0"/>
                </a:lnTo>
                <a:lnTo>
                  <a:pt x="670832" y="752687"/>
                </a:lnTo>
                <a:lnTo>
                  <a:pt x="0" y="7526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382530" y="8668119"/>
            <a:ext cx="8103428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Xác định các giá trị có thể xảy ra tại mỗi điểm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13033" y="828675"/>
            <a:ext cx="16395086" cy="1652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404"/>
              </a:lnSpc>
              <a:spcBef>
                <a:spcPct val="0"/>
              </a:spcBef>
            </a:pPr>
            <a:r>
              <a:rPr lang="en-US" sz="9574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Thư viện (Library)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13033" y="3756522"/>
            <a:ext cx="13851032" cy="3324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7"/>
              </a:lnSpc>
            </a:pPr>
            <a:r>
              <a:rPr lang="en-US" sz="398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Lưu trữ các thông tin cấu hình do người dùng cung cấp:</a:t>
            </a:r>
          </a:p>
          <a:p>
            <a:pPr algn="l">
              <a:lnSpc>
                <a:spcPts val="4627"/>
              </a:lnSpc>
            </a:pPr>
          </a:p>
          <a:p>
            <a:pPr algn="l" marL="861300" indent="-430650" lvl="1">
              <a:lnSpc>
                <a:spcPts val="4627"/>
              </a:lnSpc>
              <a:buFont typeface="Arial"/>
              <a:buChar char="•"/>
            </a:pPr>
            <a:r>
              <a:rPr lang="en-US" sz="398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Một hàm có trả giá trị hay không.</a:t>
            </a:r>
          </a:p>
          <a:p>
            <a:pPr algn="l" marL="861300" indent="-430650" lvl="1">
              <a:lnSpc>
                <a:spcPts val="6741"/>
              </a:lnSpc>
              <a:buFont typeface="Arial"/>
              <a:buChar char="•"/>
            </a:pPr>
            <a:r>
              <a:rPr lang="en-US" sz="398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Hàm có cấp phát bộ nhớ hay không.</a:t>
            </a:r>
          </a:p>
          <a:p>
            <a:pPr algn="l" marL="861300" indent="-430650" lvl="1">
              <a:lnSpc>
                <a:spcPts val="6741"/>
              </a:lnSpc>
              <a:buFont typeface="Arial"/>
              <a:buChar char="•"/>
            </a:pPr>
            <a:r>
              <a:rPr lang="en-US" sz="398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Các tham số hợp lệ hoặc không hợp lệ.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482757" y="3654425"/>
            <a:ext cx="13322486" cy="2806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200"/>
              </a:lnSpc>
              <a:spcBef>
                <a:spcPct val="0"/>
              </a:spcBef>
            </a:pPr>
            <a:r>
              <a:rPr lang="en-US" b="true" sz="8000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Quy trình thực thi Cppcheck từ command line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19221" y="747139"/>
            <a:ext cx="13470930" cy="404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0"/>
              </a:lnSpc>
            </a:pPr>
            <a:r>
              <a:rPr lang="en-US" sz="2698">
                <a:solidFill>
                  <a:srgbClr val="188038"/>
                </a:solidFill>
                <a:latin typeface="Public Sans"/>
                <a:ea typeface="Public Sans"/>
                <a:cs typeface="Public Sans"/>
                <a:sym typeface="Public Sans"/>
              </a:rPr>
              <a:t>CppCheckExecutor::check </a:t>
            </a:r>
            <a:r>
              <a:rPr lang="en-US" sz="2698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Thực thi quá trình kiểm tra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619221" y="1485875"/>
            <a:ext cx="14031725" cy="118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0"/>
              </a:lnSpc>
            </a:pPr>
            <a:r>
              <a:rPr lang="en-US" sz="2698">
                <a:solidFill>
                  <a:srgbClr val="188038"/>
                </a:solidFill>
                <a:latin typeface="Public Sans"/>
                <a:ea typeface="Public Sans"/>
                <a:cs typeface="Public Sans"/>
                <a:sym typeface="Public Sans"/>
              </a:rPr>
              <a:t>CmdLineParser::parseFromArgs</a:t>
            </a:r>
            <a:r>
              <a:rPr lang="en-US" sz="2698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 phân tích các args từ command line</a:t>
            </a:r>
          </a:p>
          <a:p>
            <a:pPr algn="l" marL="582663" indent="-291331" lvl="1">
              <a:lnSpc>
                <a:spcPts val="3130"/>
              </a:lnSpc>
              <a:buFont typeface="Arial"/>
              <a:buChar char="•"/>
            </a:pPr>
            <a:r>
              <a:rPr lang="en-US" sz="2698" u="none">
                <a:solidFill>
                  <a:srgbClr val="188038"/>
                </a:solidFill>
                <a:latin typeface="Public Sans"/>
                <a:ea typeface="Public Sans"/>
                <a:cs typeface="Public Sans"/>
                <a:sym typeface="Public Sans"/>
              </a:rPr>
              <a:t>Settings</a:t>
            </a:r>
            <a:r>
              <a:rPr lang="en-US" sz="2698" u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 class được sử dụng để lưu thiết lập cấu hình</a:t>
            </a:r>
          </a:p>
          <a:p>
            <a:pPr algn="l" marL="582663" indent="-291331" lvl="1">
              <a:lnSpc>
                <a:spcPts val="3130"/>
              </a:lnSpc>
              <a:buFont typeface="Arial"/>
              <a:buChar char="•"/>
            </a:pPr>
            <a:r>
              <a:rPr lang="en-US" sz="2698" u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Sử dụng </a:t>
            </a:r>
            <a:r>
              <a:rPr lang="en-US" sz="2698" u="none">
                <a:solidFill>
                  <a:srgbClr val="188038"/>
                </a:solidFill>
                <a:latin typeface="Public Sans"/>
                <a:ea typeface="Public Sans"/>
                <a:cs typeface="Public Sans"/>
                <a:sym typeface="Public Sans"/>
              </a:rPr>
              <a:t>FileLister</a:t>
            </a:r>
            <a:r>
              <a:rPr lang="en-US" sz="2698" u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 và tham số từ command line  lấy danh sách các files cần kiểm tra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19221" y="3004534"/>
            <a:ext cx="13470930" cy="404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0"/>
              </a:lnSpc>
            </a:pPr>
            <a:r>
              <a:rPr lang="en-US" sz="2698">
                <a:solidFill>
                  <a:srgbClr val="188038"/>
                </a:solidFill>
                <a:latin typeface="Public Sans"/>
                <a:ea typeface="Public Sans"/>
                <a:cs typeface="Public Sans"/>
                <a:sym typeface="Public Sans"/>
              </a:rPr>
              <a:t>ThreadExecutor</a:t>
            </a:r>
            <a:r>
              <a:rPr lang="en-US" sz="2698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 có thể tạo thêm các phiên bản CppCheck nếu cần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19221" y="3742144"/>
            <a:ext cx="13470930" cy="404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0"/>
              </a:lnSpc>
            </a:pPr>
            <a:r>
              <a:rPr lang="en-US" sz="2698">
                <a:solidFill>
                  <a:srgbClr val="188038"/>
                </a:solidFill>
                <a:latin typeface="Public Sans"/>
                <a:ea typeface="Public Sans"/>
                <a:cs typeface="Public Sans"/>
                <a:sym typeface="Public Sans"/>
              </a:rPr>
              <a:t>CppCheck::check</a:t>
            </a:r>
            <a:r>
              <a:rPr lang="en-US" sz="2698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 được gọi cho từng file – quá trình này kiểm tra một file riêng lẻ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19221" y="4479754"/>
            <a:ext cx="13470930" cy="118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0"/>
              </a:lnSpc>
            </a:pPr>
            <a:r>
              <a:rPr lang="en-US" sz="2698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Tệp sẽ được tiền xử lý (bởi </a:t>
            </a:r>
            <a:r>
              <a:rPr lang="en-US" sz="2698">
                <a:solidFill>
                  <a:srgbClr val="188038"/>
                </a:solidFill>
                <a:latin typeface="Public Sans"/>
                <a:ea typeface="Public Sans"/>
                <a:cs typeface="Public Sans"/>
                <a:sym typeface="Public Sans"/>
              </a:rPr>
              <a:t>Preprocessor</a:t>
            </a:r>
            <a:r>
              <a:rPr lang="en-US" sz="2698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):</a:t>
            </a:r>
          </a:p>
          <a:p>
            <a:pPr algn="l" marL="582663" indent="-291331" lvl="1">
              <a:lnSpc>
                <a:spcPts val="3130"/>
              </a:lnSpc>
              <a:buFont typeface="Arial"/>
              <a:buChar char="•"/>
            </a:pPr>
            <a:r>
              <a:rPr lang="en-US" sz="2698" u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Loại bỏ các chú thích (comments)</a:t>
            </a:r>
          </a:p>
          <a:p>
            <a:pPr algn="l" marL="582663" indent="-291331" lvl="1">
              <a:lnSpc>
                <a:spcPts val="3130"/>
              </a:lnSpc>
              <a:buFont typeface="Arial"/>
              <a:buChar char="•"/>
            </a:pPr>
            <a:r>
              <a:rPr lang="en-US" sz="2698" u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Mở rộng các macro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19221" y="6004582"/>
            <a:ext cx="13470930" cy="404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0"/>
              </a:lnSpc>
            </a:pPr>
            <a:r>
              <a:rPr lang="en-US" sz="2698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Sau đó, tệp được chuyển thành các token (giai đoạn </a:t>
            </a:r>
            <a:r>
              <a:rPr lang="en-US" sz="2698">
                <a:solidFill>
                  <a:srgbClr val="188038"/>
                </a:solidFill>
                <a:latin typeface="Public Sans"/>
                <a:ea typeface="Public Sans"/>
                <a:cs typeface="Public Sans"/>
                <a:sym typeface="Public Sans"/>
              </a:rPr>
              <a:t>Tokenizer</a:t>
            </a:r>
            <a:r>
              <a:rPr lang="en-US" sz="2698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19221" y="6917852"/>
            <a:ext cx="13470930" cy="404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0"/>
              </a:lnSpc>
            </a:pPr>
            <a:r>
              <a:rPr lang="en-US" sz="2698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Hàm </a:t>
            </a:r>
            <a:r>
              <a:rPr lang="en-US" sz="2698">
                <a:solidFill>
                  <a:srgbClr val="188038"/>
                </a:solidFill>
                <a:latin typeface="Public Sans"/>
                <a:ea typeface="Public Sans"/>
                <a:cs typeface="Public Sans"/>
                <a:sym typeface="Public Sans"/>
              </a:rPr>
              <a:t>runChecks</a:t>
            </a:r>
            <a:r>
              <a:rPr lang="en-US" sz="2698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 của tất cả các lớp kiểm tra (check classes) sẽ được thực thi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790894" y="8579387"/>
            <a:ext cx="670832" cy="752687"/>
          </a:xfrm>
          <a:custGeom>
            <a:avLst/>
            <a:gdLst/>
            <a:ahLst/>
            <a:cxnLst/>
            <a:rect r="r" b="b" t="t" l="l"/>
            <a:pathLst>
              <a:path h="752687" w="670832">
                <a:moveTo>
                  <a:pt x="0" y="0"/>
                </a:moveTo>
                <a:lnTo>
                  <a:pt x="670832" y="0"/>
                </a:lnTo>
                <a:lnTo>
                  <a:pt x="670832" y="752687"/>
                </a:lnTo>
                <a:lnTo>
                  <a:pt x="0" y="7526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888637" y="8712737"/>
            <a:ext cx="12762309" cy="404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30"/>
              </a:lnSpc>
              <a:spcBef>
                <a:spcPct val="0"/>
              </a:spcBef>
            </a:pPr>
            <a:r>
              <a:rPr lang="en-US" sz="2698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Khi phát hiện lỗi, báo lại cho </a:t>
            </a:r>
            <a:r>
              <a:rPr lang="en-US" sz="2698">
                <a:solidFill>
                  <a:srgbClr val="188038"/>
                </a:solidFill>
                <a:latin typeface="Public Sans"/>
                <a:ea typeface="Public Sans"/>
                <a:cs typeface="Public Sans"/>
                <a:sym typeface="Public Sans"/>
              </a:rPr>
              <a:t>CppCheckExecutor</a:t>
            </a:r>
            <a:r>
              <a:rPr lang="en-US" sz="2698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 thông qua interface</a:t>
            </a:r>
            <a:r>
              <a:rPr lang="en-US" sz="2698">
                <a:solidFill>
                  <a:srgbClr val="188038"/>
                </a:solidFill>
                <a:latin typeface="Public Sans"/>
                <a:ea typeface="Public Sans"/>
                <a:cs typeface="Public Sans"/>
                <a:sym typeface="Public Sans"/>
              </a:rPr>
              <a:t> ErrorLogger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747139"/>
            <a:ext cx="390870" cy="404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0"/>
              </a:lnSpc>
            </a:pPr>
            <a:r>
              <a:rPr lang="en-US" sz="2698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1.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1485875"/>
            <a:ext cx="390870" cy="404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0"/>
              </a:lnSpc>
            </a:pPr>
            <a:r>
              <a:rPr lang="en-US" sz="2698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2.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3004534"/>
            <a:ext cx="390870" cy="404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0"/>
              </a:lnSpc>
            </a:pPr>
            <a:r>
              <a:rPr lang="en-US" sz="2698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3.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3742144"/>
            <a:ext cx="390870" cy="404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0"/>
              </a:lnSpc>
            </a:pPr>
            <a:r>
              <a:rPr lang="en-US" sz="2698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4.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4479754"/>
            <a:ext cx="390870" cy="404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0"/>
              </a:lnSpc>
            </a:pPr>
            <a:r>
              <a:rPr lang="en-US" sz="2698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5.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6004582"/>
            <a:ext cx="390870" cy="404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0"/>
              </a:lnSpc>
            </a:pPr>
            <a:r>
              <a:rPr lang="en-US" sz="2698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6.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8700" y="6917852"/>
            <a:ext cx="390870" cy="404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0"/>
              </a:lnSpc>
            </a:pPr>
            <a:r>
              <a:rPr lang="en-US" sz="2698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7.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955928" y="3654425"/>
            <a:ext cx="12376145" cy="2806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200"/>
              </a:lnSpc>
              <a:spcBef>
                <a:spcPct val="0"/>
              </a:spcBef>
            </a:pPr>
            <a:r>
              <a:rPr lang="en-US" b="true" sz="8000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Một số lỗi mà Cppcheck có thể phát hiện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00927" y="2875956"/>
            <a:ext cx="9612191" cy="3590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1129" indent="-365564" lvl="1">
              <a:lnSpc>
                <a:spcPts val="4740"/>
              </a:lnSpc>
              <a:buFont typeface="Arial"/>
              <a:buChar char="•"/>
            </a:pPr>
            <a:r>
              <a:rPr lang="en-US" sz="338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Xác định các đường đi thực thi có thể xảy ra trong chương trình</a:t>
            </a:r>
          </a:p>
          <a:p>
            <a:pPr algn="l">
              <a:lnSpc>
                <a:spcPts val="4740"/>
              </a:lnSpc>
            </a:pPr>
          </a:p>
          <a:p>
            <a:pPr algn="l" marL="731129" indent="-365564" lvl="1">
              <a:lnSpc>
                <a:spcPts val="4740"/>
              </a:lnSpc>
              <a:buFont typeface="Arial"/>
              <a:buChar char="•"/>
            </a:pPr>
            <a:r>
              <a:rPr lang="en-US" sz="3386" u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Phân tích khá đơn giản (bên trong từng hàm) nhưng đủ để phát hiện một số lỗi cơ bản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5717370" y="7953526"/>
            <a:ext cx="579304" cy="649991"/>
          </a:xfrm>
          <a:custGeom>
            <a:avLst/>
            <a:gdLst/>
            <a:ahLst/>
            <a:cxnLst/>
            <a:rect r="r" b="b" t="t" l="l"/>
            <a:pathLst>
              <a:path h="649991" w="579304">
                <a:moveTo>
                  <a:pt x="0" y="0"/>
                </a:moveTo>
                <a:lnTo>
                  <a:pt x="579305" y="0"/>
                </a:lnTo>
                <a:lnTo>
                  <a:pt x="579305" y="649991"/>
                </a:lnTo>
                <a:lnTo>
                  <a:pt x="0" y="6499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885825"/>
            <a:ext cx="14147958" cy="1236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080"/>
              </a:lnSpc>
              <a:spcBef>
                <a:spcPct val="0"/>
              </a:spcBef>
            </a:pPr>
            <a:r>
              <a:rPr lang="en-US" sz="72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Phân tích dòng điều khiển (CFA)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44964" y="7945291"/>
            <a:ext cx="3043054" cy="590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0"/>
              </a:lnSpc>
            </a:pPr>
            <a:r>
              <a:rPr lang="en-US" sz="338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Xây dựng </a:t>
            </a:r>
            <a:r>
              <a:rPr lang="en-US" b="true" sz="3386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CFG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555812" y="7945291"/>
            <a:ext cx="2289486" cy="590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0"/>
              </a:lnSpc>
            </a:pPr>
            <a:r>
              <a:rPr lang="en-US" sz="338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Duyệt </a:t>
            </a:r>
            <a:r>
              <a:rPr lang="en-US" b="true" sz="3386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CFG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165753" y="7945291"/>
            <a:ext cx="2639983" cy="590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0"/>
              </a:lnSpc>
            </a:pPr>
            <a:r>
              <a:rPr lang="en-US" sz="338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Phát hiện lỗi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1214849" y="7953526"/>
            <a:ext cx="579304" cy="649991"/>
          </a:xfrm>
          <a:custGeom>
            <a:avLst/>
            <a:gdLst/>
            <a:ahLst/>
            <a:cxnLst/>
            <a:rect r="r" b="b" t="t" l="l"/>
            <a:pathLst>
              <a:path h="649991" w="579304">
                <a:moveTo>
                  <a:pt x="0" y="0"/>
                </a:moveTo>
                <a:lnTo>
                  <a:pt x="579304" y="0"/>
                </a:lnTo>
                <a:lnTo>
                  <a:pt x="579304" y="649991"/>
                </a:lnTo>
                <a:lnTo>
                  <a:pt x="0" y="6499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5738271"/>
            <a:ext cx="11225004" cy="3789885"/>
          </a:xfrm>
          <a:custGeom>
            <a:avLst/>
            <a:gdLst/>
            <a:ahLst/>
            <a:cxnLst/>
            <a:rect r="r" b="b" t="t" l="l"/>
            <a:pathLst>
              <a:path h="3789885" w="11225004">
                <a:moveTo>
                  <a:pt x="0" y="0"/>
                </a:moveTo>
                <a:lnTo>
                  <a:pt x="11225004" y="0"/>
                </a:lnTo>
                <a:lnTo>
                  <a:pt x="11225004" y="3789885"/>
                </a:lnTo>
                <a:lnTo>
                  <a:pt x="0" y="37898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074743" y="9258300"/>
            <a:ext cx="9255507" cy="1000595"/>
          </a:xfrm>
          <a:custGeom>
            <a:avLst/>
            <a:gdLst/>
            <a:ahLst/>
            <a:cxnLst/>
            <a:rect r="r" b="b" t="t" l="l"/>
            <a:pathLst>
              <a:path h="1000595" w="9255507">
                <a:moveTo>
                  <a:pt x="0" y="0"/>
                </a:moveTo>
                <a:lnTo>
                  <a:pt x="9255507" y="0"/>
                </a:lnTo>
                <a:lnTo>
                  <a:pt x="9255507" y="1000595"/>
                </a:lnTo>
                <a:lnTo>
                  <a:pt x="0" y="10005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380831" y="9405012"/>
            <a:ext cx="693912" cy="707172"/>
          </a:xfrm>
          <a:custGeom>
            <a:avLst/>
            <a:gdLst/>
            <a:ahLst/>
            <a:cxnLst/>
            <a:rect r="r" b="b" t="t" l="l"/>
            <a:pathLst>
              <a:path h="707172" w="693912">
                <a:moveTo>
                  <a:pt x="0" y="0"/>
                </a:moveTo>
                <a:lnTo>
                  <a:pt x="693912" y="0"/>
                </a:lnTo>
                <a:lnTo>
                  <a:pt x="693912" y="707172"/>
                </a:lnTo>
                <a:lnTo>
                  <a:pt x="0" y="7071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566819"/>
            <a:ext cx="14147958" cy="2512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80"/>
              </a:lnSpc>
            </a:pPr>
            <a:r>
              <a:rPr lang="en-US" sz="72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Phát hiện lỗi tràn bộ đệm </a:t>
            </a:r>
          </a:p>
          <a:p>
            <a:pPr algn="l" marL="0" indent="0" lvl="0">
              <a:lnSpc>
                <a:spcPts val="10080"/>
              </a:lnSpc>
              <a:spcBef>
                <a:spcPct val="0"/>
              </a:spcBef>
            </a:pPr>
            <a:r>
              <a:rPr lang="en-US" sz="72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(Buffer Overflow)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27439" y="3776411"/>
            <a:ext cx="15433122" cy="1190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0"/>
              </a:lnSpc>
            </a:pPr>
            <a:r>
              <a:rPr lang="en-US" sz="338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Khi một mảng bị truy cập quá giới hạn (out of bounds) trong phạm vi của nó</a:t>
            </a:r>
          </a:p>
          <a:p>
            <a:pPr algn="l">
              <a:lnSpc>
                <a:spcPts val="4740"/>
              </a:lnSpc>
            </a:pPr>
            <a:r>
              <a:rPr lang="en-US" sz="338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→ Cppcheck tạo ra thông báo lỗi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3711371"/>
            <a:ext cx="11301259" cy="5012388"/>
          </a:xfrm>
          <a:custGeom>
            <a:avLst/>
            <a:gdLst/>
            <a:ahLst/>
            <a:cxnLst/>
            <a:rect r="r" b="b" t="t" l="l"/>
            <a:pathLst>
              <a:path h="5012388" w="11301259">
                <a:moveTo>
                  <a:pt x="0" y="0"/>
                </a:moveTo>
                <a:lnTo>
                  <a:pt x="11301259" y="0"/>
                </a:lnTo>
                <a:lnTo>
                  <a:pt x="11301259" y="5012388"/>
                </a:lnTo>
                <a:lnTo>
                  <a:pt x="0" y="50123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286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259222" y="9047609"/>
            <a:ext cx="9490572" cy="929820"/>
          </a:xfrm>
          <a:custGeom>
            <a:avLst/>
            <a:gdLst/>
            <a:ahLst/>
            <a:cxnLst/>
            <a:rect r="r" b="b" t="t" l="l"/>
            <a:pathLst>
              <a:path h="929820" w="9490572">
                <a:moveTo>
                  <a:pt x="0" y="0"/>
                </a:moveTo>
                <a:lnTo>
                  <a:pt x="9490571" y="0"/>
                </a:lnTo>
                <a:lnTo>
                  <a:pt x="9490571" y="929820"/>
                </a:lnTo>
                <a:lnTo>
                  <a:pt x="0" y="9298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566819"/>
            <a:ext cx="14147958" cy="1236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080"/>
              </a:lnSpc>
              <a:spcBef>
                <a:spcPct val="0"/>
              </a:spcBef>
            </a:pPr>
            <a:r>
              <a:rPr lang="en-US" sz="72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Phân tích lời gọi hàm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793701"/>
            <a:ext cx="15433122" cy="590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0"/>
              </a:lnSpc>
            </a:pPr>
            <a:r>
              <a:rPr lang="en-US" sz="338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Cppcheck cũng kiểm tra các lời gọi hàm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3380831" y="9158933"/>
            <a:ext cx="693912" cy="707172"/>
          </a:xfrm>
          <a:custGeom>
            <a:avLst/>
            <a:gdLst/>
            <a:ahLst/>
            <a:cxnLst/>
            <a:rect r="r" b="b" t="t" l="l"/>
            <a:pathLst>
              <a:path h="707172" w="693912">
                <a:moveTo>
                  <a:pt x="0" y="0"/>
                </a:moveTo>
                <a:lnTo>
                  <a:pt x="693912" y="0"/>
                </a:lnTo>
                <a:lnTo>
                  <a:pt x="693912" y="707172"/>
                </a:lnTo>
                <a:lnTo>
                  <a:pt x="0" y="7071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45225" y="2399525"/>
            <a:ext cx="10651779" cy="3282843"/>
          </a:xfrm>
          <a:custGeom>
            <a:avLst/>
            <a:gdLst/>
            <a:ahLst/>
            <a:cxnLst/>
            <a:rect r="r" b="b" t="t" l="l"/>
            <a:pathLst>
              <a:path h="3282843" w="10651779">
                <a:moveTo>
                  <a:pt x="0" y="0"/>
                </a:moveTo>
                <a:lnTo>
                  <a:pt x="10651778" y="0"/>
                </a:lnTo>
                <a:lnTo>
                  <a:pt x="10651778" y="3282844"/>
                </a:lnTo>
                <a:lnTo>
                  <a:pt x="0" y="32828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72196" y="5518602"/>
            <a:ext cx="4416712" cy="3739698"/>
          </a:xfrm>
          <a:custGeom>
            <a:avLst/>
            <a:gdLst/>
            <a:ahLst/>
            <a:cxnLst/>
            <a:rect r="r" b="b" t="t" l="l"/>
            <a:pathLst>
              <a:path h="3739698" w="4416712">
                <a:moveTo>
                  <a:pt x="0" y="0"/>
                </a:moveTo>
                <a:lnTo>
                  <a:pt x="4416712" y="0"/>
                </a:lnTo>
                <a:lnTo>
                  <a:pt x="4416712" y="3739698"/>
                </a:lnTo>
                <a:lnTo>
                  <a:pt x="0" y="37396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942975"/>
            <a:ext cx="15433122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Tuy nhiên, nếu điều kiện được di chuyển vào trong hàm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03981" y="5143500"/>
            <a:ext cx="11301259" cy="3828301"/>
          </a:xfrm>
          <a:custGeom>
            <a:avLst/>
            <a:gdLst/>
            <a:ahLst/>
            <a:cxnLst/>
            <a:rect r="r" b="b" t="t" l="l"/>
            <a:pathLst>
              <a:path h="3828301" w="11301259">
                <a:moveTo>
                  <a:pt x="0" y="0"/>
                </a:moveTo>
                <a:lnTo>
                  <a:pt x="11301259" y="0"/>
                </a:lnTo>
                <a:lnTo>
                  <a:pt x="11301259" y="3828301"/>
                </a:lnTo>
                <a:lnTo>
                  <a:pt x="0" y="38283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675132" y="9405012"/>
            <a:ext cx="693912" cy="707172"/>
          </a:xfrm>
          <a:custGeom>
            <a:avLst/>
            <a:gdLst/>
            <a:ahLst/>
            <a:cxnLst/>
            <a:rect r="r" b="b" t="t" l="l"/>
            <a:pathLst>
              <a:path h="707172" w="693912">
                <a:moveTo>
                  <a:pt x="0" y="0"/>
                </a:moveTo>
                <a:lnTo>
                  <a:pt x="693913" y="0"/>
                </a:lnTo>
                <a:lnTo>
                  <a:pt x="693913" y="707172"/>
                </a:lnTo>
                <a:lnTo>
                  <a:pt x="0" y="7071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594877" y="9405012"/>
            <a:ext cx="3815699" cy="646729"/>
          </a:xfrm>
          <a:custGeom>
            <a:avLst/>
            <a:gdLst/>
            <a:ahLst/>
            <a:cxnLst/>
            <a:rect r="r" b="b" t="t" l="l"/>
            <a:pathLst>
              <a:path h="646729" w="3815699">
                <a:moveTo>
                  <a:pt x="0" y="0"/>
                </a:moveTo>
                <a:lnTo>
                  <a:pt x="3815699" y="0"/>
                </a:lnTo>
                <a:lnTo>
                  <a:pt x="3815699" y="646728"/>
                </a:lnTo>
                <a:lnTo>
                  <a:pt x="0" y="6467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213033" y="1085850"/>
            <a:ext cx="16395086" cy="1003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699"/>
              </a:lnSpc>
            </a:pPr>
            <a:r>
              <a:rPr lang="en-US" sz="69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Phát hiện rò rỉ bộ nhớ (memory leak)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56844" y="2817669"/>
            <a:ext cx="9612191" cy="1790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0"/>
              </a:lnSpc>
            </a:pPr>
            <a:r>
              <a:rPr lang="en-US" sz="338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Sử dụng phân tích luồng điều khiển đơn giản để kiểm tra rò rỉ bộ nhớ</a:t>
            </a:r>
          </a:p>
          <a:p>
            <a:pPr algn="l">
              <a:lnSpc>
                <a:spcPts val="4740"/>
              </a:lnSpc>
            </a:pPr>
            <a:r>
              <a:rPr lang="en-US" sz="338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→ giả định mọi câu lệnh đều có thể thực thi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276305" y="8596576"/>
            <a:ext cx="670832" cy="752687"/>
          </a:xfrm>
          <a:custGeom>
            <a:avLst/>
            <a:gdLst/>
            <a:ahLst/>
            <a:cxnLst/>
            <a:rect r="r" b="b" t="t" l="l"/>
            <a:pathLst>
              <a:path h="752687" w="670832">
                <a:moveTo>
                  <a:pt x="0" y="0"/>
                </a:moveTo>
                <a:lnTo>
                  <a:pt x="670832" y="0"/>
                </a:lnTo>
                <a:lnTo>
                  <a:pt x="670832" y="752687"/>
                </a:lnTo>
                <a:lnTo>
                  <a:pt x="0" y="7526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041988" y="2917852"/>
            <a:ext cx="10932187" cy="4767648"/>
          </a:xfrm>
          <a:custGeom>
            <a:avLst/>
            <a:gdLst/>
            <a:ahLst/>
            <a:cxnLst/>
            <a:rect r="r" b="b" t="t" l="l"/>
            <a:pathLst>
              <a:path h="4767648" w="10932187">
                <a:moveTo>
                  <a:pt x="0" y="0"/>
                </a:moveTo>
                <a:lnTo>
                  <a:pt x="10932186" y="0"/>
                </a:lnTo>
                <a:lnTo>
                  <a:pt x="10932186" y="4767648"/>
                </a:lnTo>
                <a:lnTo>
                  <a:pt x="0" y="47676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284939" y="459227"/>
            <a:ext cx="12680165" cy="1571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5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Phân tích của Cppcheck bị hạn chế với trường hợp phức tạp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450476" y="8486775"/>
            <a:ext cx="6328500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5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Không phát hiện lỗi nào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28750" y="1285875"/>
            <a:ext cx="6915150" cy="2512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080"/>
              </a:lnSpc>
              <a:spcBef>
                <a:spcPct val="0"/>
              </a:spcBef>
            </a:pPr>
            <a:r>
              <a:rPr lang="en-US" sz="72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Giới hạn của</a:t>
            </a:r>
          </a:p>
          <a:p>
            <a:pPr algn="l" marL="0" indent="0" lvl="0">
              <a:lnSpc>
                <a:spcPts val="10080"/>
              </a:lnSpc>
              <a:spcBef>
                <a:spcPct val="0"/>
              </a:spcBef>
            </a:pPr>
            <a:r>
              <a:rPr lang="en-US" sz="7200" u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Cppcheck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0" y="2150110"/>
            <a:ext cx="8515350" cy="869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Cppcheck không hiểu những kiến thức thực tế (VD: một ngày có 24 giờ)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144000" y="1343025"/>
            <a:ext cx="8515350" cy="615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00"/>
              </a:lnSpc>
              <a:spcBef>
                <a:spcPct val="0"/>
              </a:spcBef>
            </a:pPr>
            <a:r>
              <a:rPr lang="en-US" b="true" sz="3500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Hiểu biết ngữ cảnh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144000" y="7529161"/>
            <a:ext cx="8515350" cy="1308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Chỉ phát hiện một số lỗi, không thể thay thế các công cụ phân tích tĩnh cao cấp hơn hoặc quy trình kiểm tra code thủ công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144000" y="6697876"/>
            <a:ext cx="8515350" cy="615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00"/>
              </a:lnSpc>
              <a:spcBef>
                <a:spcPct val="0"/>
              </a:spcBef>
            </a:pPr>
            <a:r>
              <a:rPr lang="en-US" b="true" sz="3500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Không toàn diện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44000" y="4767846"/>
            <a:ext cx="8515350" cy="869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Giả định mọi điều kiện đều có thể đúng hoặc sai, hạn chế khả năng phát hiện lỗi phức tạp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44000" y="4020450"/>
            <a:ext cx="8515350" cy="615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00"/>
              </a:lnSpc>
              <a:spcBef>
                <a:spcPct val="0"/>
              </a:spcBef>
            </a:pPr>
            <a:r>
              <a:rPr lang="en-US" b="true" sz="3500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Phân tích dòng điều khiển đơn giản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621872" y="4364038"/>
            <a:ext cx="11044256" cy="1387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200"/>
              </a:lnSpc>
              <a:spcBef>
                <a:spcPct val="0"/>
              </a:spcBef>
            </a:pPr>
            <a:r>
              <a:rPr lang="en-US" b="true" sz="8000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Đánh giá tổng quan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65577" y="9022574"/>
            <a:ext cx="3670580" cy="719722"/>
          </a:xfrm>
          <a:custGeom>
            <a:avLst/>
            <a:gdLst/>
            <a:ahLst/>
            <a:cxnLst/>
            <a:rect r="r" b="b" t="t" l="l"/>
            <a:pathLst>
              <a:path h="719722" w="3670580">
                <a:moveTo>
                  <a:pt x="0" y="0"/>
                </a:moveTo>
                <a:lnTo>
                  <a:pt x="3670580" y="0"/>
                </a:lnTo>
                <a:lnTo>
                  <a:pt x="3670580" y="719722"/>
                </a:lnTo>
                <a:lnTo>
                  <a:pt x="0" y="7197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224131" y="9022574"/>
            <a:ext cx="5228882" cy="665494"/>
          </a:xfrm>
          <a:custGeom>
            <a:avLst/>
            <a:gdLst/>
            <a:ahLst/>
            <a:cxnLst/>
            <a:rect r="r" b="b" t="t" l="l"/>
            <a:pathLst>
              <a:path h="665494" w="5228882">
                <a:moveTo>
                  <a:pt x="0" y="0"/>
                </a:moveTo>
                <a:lnTo>
                  <a:pt x="5228882" y="0"/>
                </a:lnTo>
                <a:lnTo>
                  <a:pt x="5228882" y="665494"/>
                </a:lnTo>
                <a:lnTo>
                  <a:pt x="0" y="6654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548388" y="8988596"/>
            <a:ext cx="4739487" cy="877683"/>
          </a:xfrm>
          <a:custGeom>
            <a:avLst/>
            <a:gdLst/>
            <a:ahLst/>
            <a:cxnLst/>
            <a:rect r="r" b="b" t="t" l="l"/>
            <a:pathLst>
              <a:path h="877683" w="4739487">
                <a:moveTo>
                  <a:pt x="0" y="0"/>
                </a:moveTo>
                <a:lnTo>
                  <a:pt x="4739487" y="0"/>
                </a:lnTo>
                <a:lnTo>
                  <a:pt x="4739487" y="877683"/>
                </a:lnTo>
                <a:lnTo>
                  <a:pt x="0" y="8776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457325" y="885825"/>
            <a:ext cx="14147958" cy="1236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080"/>
              </a:lnSpc>
              <a:spcBef>
                <a:spcPct val="0"/>
              </a:spcBef>
            </a:pPr>
            <a:r>
              <a:rPr lang="en-US" b="true" sz="7200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Ưu điểm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57325" y="2571546"/>
            <a:ext cx="9995688" cy="590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1129" indent="-365564" lvl="1">
              <a:lnSpc>
                <a:spcPts val="4740"/>
              </a:lnSpc>
              <a:buFont typeface="Arial"/>
              <a:buChar char="•"/>
            </a:pPr>
            <a:r>
              <a:rPr lang="en-US" sz="338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Khả năng hoat động độc lập với trình biên dịch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57325" y="3609481"/>
            <a:ext cx="9612191" cy="590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1129" indent="-365564" lvl="1">
              <a:lnSpc>
                <a:spcPts val="4740"/>
              </a:lnSpc>
              <a:buFont typeface="Arial"/>
              <a:buChar char="•"/>
            </a:pPr>
            <a:r>
              <a:rPr lang="en-US" sz="338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Không yêu cầu mã nguồn phải biên dịch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57325" y="4647416"/>
            <a:ext cx="9612191" cy="2990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1129" indent="-365564" lvl="1">
              <a:lnSpc>
                <a:spcPts val="4740"/>
              </a:lnSpc>
              <a:buFont typeface="Arial"/>
              <a:buChar char="•"/>
            </a:pPr>
            <a:r>
              <a:rPr lang="en-US" sz="338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Phân tích các lỗi phổ biến: </a:t>
            </a:r>
          </a:p>
          <a:p>
            <a:pPr algn="l" marL="1462257" indent="-487419" lvl="2">
              <a:lnSpc>
                <a:spcPts val="4740"/>
              </a:lnSpc>
              <a:buFont typeface="Arial"/>
              <a:buChar char="⚬"/>
            </a:pPr>
            <a:r>
              <a:rPr lang="en-US" sz="338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Tràn bộ đệm</a:t>
            </a:r>
          </a:p>
          <a:p>
            <a:pPr algn="l" marL="1462257" indent="-487419" lvl="2">
              <a:lnSpc>
                <a:spcPts val="4740"/>
              </a:lnSpc>
              <a:buFont typeface="Arial"/>
              <a:buChar char="⚬"/>
            </a:pPr>
            <a:r>
              <a:rPr lang="en-US" sz="338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Sử dụng bộ nhớ chưa cấp phát</a:t>
            </a:r>
          </a:p>
          <a:p>
            <a:pPr algn="l" marL="1462257" indent="-487419" lvl="2">
              <a:lnSpc>
                <a:spcPts val="4740"/>
              </a:lnSpc>
              <a:buFont typeface="Arial"/>
              <a:buChar char="⚬"/>
            </a:pPr>
            <a:r>
              <a:rPr lang="en-US" sz="338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Sử dụng biến chưa khởi tạo</a:t>
            </a:r>
          </a:p>
          <a:p>
            <a:pPr algn="l" marL="1462257" indent="-487419" lvl="2">
              <a:lnSpc>
                <a:spcPts val="4740"/>
              </a:lnSpc>
              <a:buFont typeface="Arial"/>
              <a:buChar char="⚬"/>
            </a:pPr>
            <a:r>
              <a:rPr lang="en-US" sz="338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Lỗi logic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57325" y="7908439"/>
            <a:ext cx="9612191" cy="590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1129" indent="-365564" lvl="1">
              <a:lnSpc>
                <a:spcPts val="4740"/>
              </a:lnSpc>
              <a:buFont typeface="Arial"/>
              <a:buChar char="•"/>
            </a:pPr>
            <a:r>
              <a:rPr lang="en-US" sz="338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Cung cấp tuỳ chọn kiểm tra nâng cao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694077"/>
            <a:ext cx="14147958" cy="1236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080"/>
              </a:lnSpc>
              <a:spcBef>
                <a:spcPct val="0"/>
              </a:spcBef>
            </a:pPr>
            <a:r>
              <a:rPr lang="en-US" b="true" sz="7200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Hạn chế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28750" y="2571546"/>
            <a:ext cx="9995688" cy="590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1129" indent="-365564" lvl="1">
              <a:lnSpc>
                <a:spcPts val="4740"/>
              </a:lnSpc>
              <a:buFont typeface="Arial"/>
              <a:buChar char="•"/>
            </a:pPr>
            <a:r>
              <a:rPr lang="en-US" sz="338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Phân tích luồng điều khiển còn khá </a:t>
            </a:r>
            <a:r>
              <a:rPr lang="en-US" b="true" sz="3386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đơn giản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28750" y="3609481"/>
            <a:ext cx="12967787" cy="590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1129" indent="-365564" lvl="1">
              <a:lnSpc>
                <a:spcPts val="4740"/>
              </a:lnSpc>
              <a:buFont typeface="Arial"/>
              <a:buChar char="•"/>
            </a:pPr>
            <a:r>
              <a:rPr lang="en-US" sz="338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Không có khả năng hiểu biết </a:t>
            </a:r>
            <a:r>
              <a:rPr lang="en-US" b="true" sz="3386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ngữ nghĩa</a:t>
            </a:r>
            <a:r>
              <a:rPr lang="en-US" sz="338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, kiến thức nền tảng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28750" y="4647416"/>
            <a:ext cx="10427121" cy="2390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1129" indent="-365564" lvl="1">
              <a:lnSpc>
                <a:spcPts val="4740"/>
              </a:lnSpc>
              <a:buFont typeface="Arial"/>
              <a:buChar char="•"/>
            </a:pPr>
            <a:r>
              <a:rPr lang="en-US" sz="338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Không theo dõi tốt các luồng </a:t>
            </a:r>
            <a:r>
              <a:rPr lang="en-US" b="true" sz="3386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thực thi đồng thời</a:t>
            </a:r>
            <a:r>
              <a:rPr lang="en-US" sz="338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, khó phát hiện các lỗi </a:t>
            </a:r>
            <a:r>
              <a:rPr lang="en-US" b="true" sz="3386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phức tạp</a:t>
            </a:r>
            <a:r>
              <a:rPr lang="en-US" sz="338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:</a:t>
            </a:r>
          </a:p>
          <a:p>
            <a:pPr algn="l" marL="1462257" indent="-487419" lvl="2">
              <a:lnSpc>
                <a:spcPts val="4740"/>
              </a:lnSpc>
              <a:buFont typeface="Arial"/>
              <a:buChar char="⚬"/>
            </a:pPr>
            <a:r>
              <a:rPr lang="en-US" sz="338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race condition</a:t>
            </a:r>
          </a:p>
          <a:p>
            <a:pPr algn="l" marL="1462257" indent="-487419" lvl="2">
              <a:lnSpc>
                <a:spcPts val="4740"/>
              </a:lnSpc>
              <a:buFont typeface="Arial"/>
              <a:buChar char="⚬"/>
            </a:pPr>
            <a:r>
              <a:rPr lang="en-US" sz="338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deadlock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28750" y="7485576"/>
            <a:ext cx="15987824" cy="590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1129" indent="-365564" lvl="1">
              <a:lnSpc>
                <a:spcPts val="4740"/>
              </a:lnSpc>
              <a:buFont typeface="Arial"/>
              <a:buChar char="•"/>
            </a:pPr>
            <a:r>
              <a:rPr lang="en-US" sz="338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Không phân tích được các lỗi liên quan đến </a:t>
            </a:r>
            <a:r>
              <a:rPr lang="en-US" b="true" sz="3386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thư viện ngoài</a:t>
            </a:r>
            <a:r>
              <a:rPr lang="en-US" sz="338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, mã chưa có sẵn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28750" y="8523511"/>
            <a:ext cx="15987824" cy="590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1129" indent="-365564" lvl="1">
              <a:lnSpc>
                <a:spcPts val="4740"/>
              </a:lnSpc>
              <a:buFont typeface="Arial"/>
              <a:buChar char="•"/>
            </a:pPr>
            <a:r>
              <a:rPr lang="en-US" sz="338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Khả năng báo cáo sai</a:t>
            </a:r>
            <a:r>
              <a:rPr lang="en-US" b="true" sz="3386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(false positive) </a:t>
            </a:r>
            <a:r>
              <a:rPr lang="en-US" sz="338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cao.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38225" y="694077"/>
            <a:ext cx="14147958" cy="1236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080"/>
              </a:lnSpc>
              <a:spcBef>
                <a:spcPct val="0"/>
              </a:spcBef>
            </a:pPr>
            <a:r>
              <a:rPr lang="en-US" b="true" sz="7200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So sánh với các công cụ khác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08680" y="3495236"/>
            <a:ext cx="4505478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Miễn phí, mã nguồn mở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08680" y="4462341"/>
            <a:ext cx="4505478" cy="986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Tập trung phát hiện logic tiềm ẩn, hiệu suất C, C++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08680" y="2363978"/>
            <a:ext cx="3084469" cy="833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722"/>
              </a:lnSpc>
              <a:spcBef>
                <a:spcPct val="0"/>
              </a:spcBef>
            </a:pPr>
            <a:r>
              <a:rPr lang="en-US" b="true" sz="4801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Cppcheck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283785" y="2363978"/>
            <a:ext cx="4218195" cy="833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722"/>
              </a:lnSpc>
              <a:spcBef>
                <a:spcPct val="0"/>
              </a:spcBef>
            </a:pPr>
            <a:r>
              <a:rPr lang="en-US" b="true" sz="4801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Coverity Scan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283785" y="3495236"/>
            <a:ext cx="6448358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Phiên bản thương mại có phí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283785" y="4462341"/>
            <a:ext cx="4812248" cy="986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Phát hiện lỗi bảo mật, logic, chất lượng mã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3108872" y="9533525"/>
            <a:ext cx="579304" cy="649991"/>
          </a:xfrm>
          <a:custGeom>
            <a:avLst/>
            <a:gdLst/>
            <a:ahLst/>
            <a:cxnLst/>
            <a:rect r="r" b="b" t="t" l="l"/>
            <a:pathLst>
              <a:path h="649991" w="579304">
                <a:moveTo>
                  <a:pt x="0" y="0"/>
                </a:moveTo>
                <a:lnTo>
                  <a:pt x="579304" y="0"/>
                </a:lnTo>
                <a:lnTo>
                  <a:pt x="579304" y="649991"/>
                </a:lnTo>
                <a:lnTo>
                  <a:pt x="0" y="6499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136516" y="9525290"/>
            <a:ext cx="11049667" cy="590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0"/>
              </a:lnSpc>
            </a:pPr>
            <a:r>
              <a:rPr lang="en-US" sz="338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Phù hợp với dự án nhỏ, yêu cầu không quá phức tạp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08680" y="5924746"/>
            <a:ext cx="4505478" cy="986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Dễ sử dụng, tích hợp vào IDE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08680" y="7387151"/>
            <a:ext cx="4219158" cy="1481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Không mạnh mẽ bằng các công cụ thương mại, có thể bỏ sót lỗi phức tạp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283785" y="5924746"/>
            <a:ext cx="4812248" cy="986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Tốt cho dự án lớn, tích hợp tốt với CI/CD.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283785" y="7387151"/>
            <a:ext cx="4812248" cy="1481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Cài đặt phức tạp, cảnh báo nhiều đôi khi không cần thiết.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901996" y="2363978"/>
            <a:ext cx="4218195" cy="833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722"/>
              </a:lnSpc>
              <a:spcBef>
                <a:spcPct val="0"/>
              </a:spcBef>
            </a:pPr>
            <a:r>
              <a:rPr lang="en-US" b="true" sz="4801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PVS-Studio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901996" y="3556380"/>
            <a:ext cx="6448358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Công cụ thương mại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901996" y="4462341"/>
            <a:ext cx="4812248" cy="986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Mạnh mẽ trong phát hiện lỗi logic và bảo mật.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901996" y="5924746"/>
            <a:ext cx="4812248" cy="986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Cung cấp gợi ý sửa lỗi chi tiết.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901996" y="7387151"/>
            <a:ext cx="4812248" cy="986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Giá cao, đôi khi có nhiều cảnh báo không cần thiết.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85825"/>
            <a:ext cx="5100057" cy="2512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080"/>
              </a:lnSpc>
              <a:spcBef>
                <a:spcPct val="0"/>
              </a:spcBef>
            </a:pPr>
            <a:r>
              <a:rPr lang="en-US" b="true" sz="7200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Đối tượng phù hợp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607247" y="2006365"/>
            <a:ext cx="5556481" cy="1508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49"/>
              </a:lnSpc>
              <a:spcBef>
                <a:spcPct val="0"/>
              </a:spcBef>
            </a:pPr>
            <a:r>
              <a:rPr lang="en-US" sz="2892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Mang lại giải pháp miễn phí, dễ sử dụng để cải thiện chất lượng mã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607247" y="1144286"/>
            <a:ext cx="5556481" cy="661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399"/>
              </a:lnSpc>
              <a:spcBef>
                <a:spcPct val="0"/>
              </a:spcBef>
            </a:pPr>
            <a:r>
              <a:rPr lang="en-US" b="true" sz="3856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Cá nhân, nhóm nhỏ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607247" y="6905221"/>
            <a:ext cx="5556481" cy="1508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49"/>
              </a:lnSpc>
              <a:spcBef>
                <a:spcPct val="0"/>
              </a:spcBef>
            </a:pPr>
            <a:r>
              <a:rPr lang="en-US" sz="2892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Được sử dụng như công cụ bổ trợ, cung cấp nhiều góc nhìn khác nhau về chất lượng mã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607247" y="5322177"/>
            <a:ext cx="5556481" cy="1334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399"/>
              </a:lnSpc>
              <a:spcBef>
                <a:spcPct val="0"/>
              </a:spcBef>
            </a:pPr>
            <a:r>
              <a:rPr lang="en-US" b="true" sz="3856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Nhóm lớn, dự án thương mại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621872" y="4364038"/>
            <a:ext cx="11044256" cy="1387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200"/>
              </a:lnSpc>
              <a:spcBef>
                <a:spcPct val="0"/>
              </a:spcBef>
            </a:pPr>
            <a:r>
              <a:rPr lang="en-US" b="true" sz="8000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Kết luận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66775"/>
            <a:ext cx="16371117" cy="2638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500"/>
              </a:lnSpc>
              <a:spcBef>
                <a:spcPct val="0"/>
              </a:spcBef>
            </a:pPr>
            <a:r>
              <a:rPr lang="en-US" sz="75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Ứng dụng trong quy trình phát triển phần mềm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13033" y="4102230"/>
            <a:ext cx="13851032" cy="1394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1300" indent="-430650" lvl="1">
              <a:lnSpc>
                <a:spcPts val="5585"/>
              </a:lnSpc>
              <a:buFont typeface="Arial"/>
              <a:buChar char="•"/>
            </a:pPr>
            <a:r>
              <a:rPr lang="en-US" b="true" sz="3989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Hoạt động tốt</a:t>
            </a:r>
            <a:r>
              <a:rPr lang="en-US" sz="398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 trong cả môi trường phát triển cá nhân nhóm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13033" y="6096401"/>
            <a:ext cx="13851032" cy="689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1300" indent="-430650" lvl="1">
              <a:lnSpc>
                <a:spcPts val="5585"/>
              </a:lnSpc>
              <a:buFont typeface="Arial"/>
              <a:buChar char="•"/>
            </a:pPr>
            <a:r>
              <a:rPr lang="en-US" sz="398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Dễ dàng tích hợp vào quy trình </a:t>
            </a:r>
            <a:r>
              <a:rPr lang="en-US" b="true" sz="3989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CI/CD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13033" y="7527984"/>
            <a:ext cx="13851032" cy="689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1300" indent="-430650" lvl="1">
              <a:lnSpc>
                <a:spcPts val="5585"/>
              </a:lnSpc>
              <a:buFont typeface="Arial"/>
              <a:buChar char="•"/>
            </a:pPr>
            <a:r>
              <a:rPr lang="en-US" sz="398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Đặc biệt</a:t>
            </a:r>
            <a:r>
              <a:rPr lang="en-US" b="true" sz="3989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hữu ích </a:t>
            </a:r>
            <a:r>
              <a:rPr lang="en-US" sz="398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cho các nhà phát triển độc lập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88183" y="720855"/>
            <a:ext cx="16371117" cy="2638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500"/>
              </a:lnSpc>
              <a:spcBef>
                <a:spcPct val="0"/>
              </a:spcBef>
            </a:pPr>
            <a:r>
              <a:rPr lang="en-US" sz="75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Vai trò trong phát triển phần mềm hiện đại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13033" y="4102230"/>
            <a:ext cx="13851032" cy="1394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1300" indent="-430650" lvl="1">
              <a:lnSpc>
                <a:spcPts val="5585"/>
              </a:lnSpc>
              <a:buFont typeface="Arial"/>
              <a:buChar char="•"/>
            </a:pPr>
            <a:r>
              <a:rPr lang="en-US" sz="398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Tiêu chuẩn bảo mật và chất lượng càng trở nên </a:t>
            </a:r>
            <a:r>
              <a:rPr lang="en-US" b="true" sz="3989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quan trọng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13033" y="6096401"/>
            <a:ext cx="13851032" cy="689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1300" indent="-430650" lvl="1">
              <a:lnSpc>
                <a:spcPts val="5585"/>
              </a:lnSpc>
              <a:buFont typeface="Arial"/>
              <a:buChar char="•"/>
            </a:pPr>
            <a:r>
              <a:rPr lang="en-US" sz="398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Phát hiện lỗi </a:t>
            </a:r>
            <a:r>
              <a:rPr lang="en-US" b="true" sz="3989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sớm</a:t>
            </a:r>
            <a:r>
              <a:rPr lang="en-US" sz="398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 → xây dựng </a:t>
            </a:r>
            <a:r>
              <a:rPr lang="en-US" b="true" sz="3989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niềm tin </a:t>
            </a:r>
            <a:r>
              <a:rPr lang="en-US" sz="398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với khách hàng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13033" y="7527984"/>
            <a:ext cx="13851032" cy="689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1300" indent="-430650" lvl="1">
              <a:lnSpc>
                <a:spcPts val="5585"/>
              </a:lnSpc>
              <a:buFont typeface="Arial"/>
              <a:buChar char="•"/>
            </a:pPr>
            <a:r>
              <a:rPr lang="en-US" sz="398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Đảm bảo mã mới </a:t>
            </a:r>
            <a:r>
              <a:rPr lang="en-US" b="true" sz="3989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tuân thủ</a:t>
            </a:r>
            <a:r>
              <a:rPr lang="en-US" sz="398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 các tiêu chuẩn định sẵn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88183" y="720855"/>
            <a:ext cx="16371117" cy="1304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500"/>
              </a:lnSpc>
              <a:spcBef>
                <a:spcPct val="0"/>
              </a:spcBef>
            </a:pPr>
            <a:r>
              <a:rPr lang="en-US" sz="75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Kết luận cuối cùng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761844"/>
            <a:ext cx="13851032" cy="1394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1300" indent="-430650" lvl="1">
              <a:lnSpc>
                <a:spcPts val="5585"/>
              </a:lnSpc>
              <a:buFont typeface="Arial"/>
              <a:buChar char="•"/>
            </a:pPr>
            <a:r>
              <a:rPr lang="en-US" sz="398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Một trong những công cụ </a:t>
            </a:r>
            <a:r>
              <a:rPr lang="en-US" b="true" sz="3989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phân tích</a:t>
            </a:r>
            <a:r>
              <a:rPr lang="en-US" sz="398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b="true" sz="3989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tĩnh</a:t>
            </a:r>
            <a:r>
              <a:rPr lang="en-US" sz="398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 mạnh mẽ nhất trong tầm giá (miễn phí)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4756015"/>
            <a:ext cx="13851032" cy="1394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1300" indent="-430650" lvl="1">
              <a:lnSpc>
                <a:spcPts val="5585"/>
              </a:lnSpc>
              <a:buFont typeface="Arial"/>
              <a:buChar char="•"/>
            </a:pPr>
            <a:r>
              <a:rPr lang="en-US" sz="398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Lựa chọn tốt cho dự án C/C++ muốn cải thiện chất lượng nhưng không cần đầu tư lớn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6750185"/>
            <a:ext cx="13851032" cy="689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1300" indent="-430650" lvl="1">
              <a:lnSpc>
                <a:spcPts val="5585"/>
              </a:lnSpc>
              <a:buFont typeface="Arial"/>
              <a:buChar char="•"/>
            </a:pPr>
            <a:r>
              <a:rPr lang="en-US" sz="398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Vẫn tồn tại một số </a:t>
            </a:r>
            <a:r>
              <a:rPr lang="en-US" b="true" sz="3989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hạn chế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2610624" y="8744240"/>
            <a:ext cx="579304" cy="649991"/>
          </a:xfrm>
          <a:custGeom>
            <a:avLst/>
            <a:gdLst/>
            <a:ahLst/>
            <a:cxnLst/>
            <a:rect r="r" b="b" t="t" l="l"/>
            <a:pathLst>
              <a:path h="649991" w="579304">
                <a:moveTo>
                  <a:pt x="0" y="0"/>
                </a:moveTo>
                <a:lnTo>
                  <a:pt x="579304" y="0"/>
                </a:lnTo>
                <a:lnTo>
                  <a:pt x="579304" y="649991"/>
                </a:lnTo>
                <a:lnTo>
                  <a:pt x="0" y="6499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861723" y="8477857"/>
            <a:ext cx="12379440" cy="1242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91"/>
              </a:lnSpc>
            </a:pPr>
            <a:r>
              <a:rPr lang="en-US" sz="3565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Chắn chắn tiếp tục là một công cụ </a:t>
            </a:r>
            <a:r>
              <a:rPr lang="en-US" b="true" sz="3565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quan trọng </a:t>
            </a:r>
            <a:r>
              <a:rPr lang="en-US" sz="3565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với nhà phát triển C,C++ hiện đại</a:t>
            </a: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621872" y="4364038"/>
            <a:ext cx="11044256" cy="1387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200"/>
              </a:lnSpc>
              <a:spcBef>
                <a:spcPct val="0"/>
              </a:spcBef>
            </a:pPr>
            <a:r>
              <a:rPr lang="en-US" b="true" sz="8000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Cảm ơn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DAGlDAf9y18</dc:identifier>
  <dcterms:modified xsi:type="dcterms:W3CDTF">2011-08-01T06:04:30Z</dcterms:modified>
  <cp:revision>1</cp:revision>
  <dc:title>CPPCHECK</dc:title>
</cp:coreProperties>
</file>